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71" r:id="rId4"/>
    <p:sldId id="258" r:id="rId5"/>
    <p:sldId id="269" r:id="rId6"/>
    <p:sldId id="270" r:id="rId7"/>
    <p:sldId id="259" r:id="rId8"/>
    <p:sldId id="261" r:id="rId9"/>
    <p:sldId id="265" r:id="rId10"/>
    <p:sldId id="264" r:id="rId11"/>
    <p:sldId id="266" r:id="rId12"/>
    <p:sldId id="267" r:id="rId13"/>
    <p:sldId id="262" r:id="rId14"/>
    <p:sldId id="263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166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0231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244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0681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8188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5609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4266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8878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3001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3738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2792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31586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52143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10866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51210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8360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8832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10D157EF-77CA-5693-E0D0-C536F2C90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9553" y="685801"/>
            <a:ext cx="9538447" cy="4572000"/>
          </a:xfrm>
        </p:spPr>
        <p:txBody>
          <a:bodyPr>
            <a:normAutofit/>
          </a:bodyPr>
          <a:lstStyle/>
          <a:p>
            <a:pPr algn="l"/>
            <a:r>
              <a:rPr lang="de-DE" sz="2400" b="1" dirty="0">
                <a:solidFill>
                  <a:schemeClr val="tx1"/>
                </a:solidFill>
              </a:rPr>
              <a:t>Projekt:</a:t>
            </a:r>
            <a:r>
              <a:rPr lang="de-DE" sz="2400" dirty="0">
                <a:solidFill>
                  <a:schemeClr val="tx1"/>
                </a:solidFill>
              </a:rPr>
              <a:t> </a:t>
            </a:r>
          </a:p>
          <a:p>
            <a:pPr algn="l"/>
            <a:endParaRPr lang="de-DE" sz="2400" dirty="0">
              <a:solidFill>
                <a:schemeClr val="tx1"/>
              </a:solidFill>
            </a:endParaRPr>
          </a:p>
          <a:p>
            <a:pPr algn="ctr"/>
            <a:r>
              <a:rPr lang="de-DE" sz="4400" dirty="0">
                <a:solidFill>
                  <a:schemeClr val="tx1"/>
                </a:solidFill>
              </a:rPr>
              <a:t>Budget Management System </a:t>
            </a:r>
          </a:p>
          <a:p>
            <a:pPr algn="l"/>
            <a:endParaRPr lang="de-DE" dirty="0"/>
          </a:p>
          <a:p>
            <a:pPr algn="l"/>
            <a:endParaRPr lang="de-DE" dirty="0">
              <a:effectLst/>
            </a:endParaRPr>
          </a:p>
          <a:p>
            <a:pPr algn="l"/>
            <a:r>
              <a:rPr lang="de-DE" b="1" dirty="0">
                <a:effectLst/>
              </a:rPr>
              <a:t>Erstellt von:</a:t>
            </a:r>
            <a:r>
              <a:rPr lang="de-DE" dirty="0">
                <a:effectLst/>
              </a:rPr>
              <a:t> </a:t>
            </a:r>
          </a:p>
          <a:p>
            <a:pPr algn="l"/>
            <a:endParaRPr lang="de-DE" dirty="0">
              <a:effectLst/>
            </a:endParaRPr>
          </a:p>
          <a:p>
            <a:pPr algn="l"/>
            <a:r>
              <a:rPr lang="de-DE" b="1" dirty="0"/>
              <a:t>Datum:</a:t>
            </a:r>
            <a:r>
              <a:rPr lang="de-DE" dirty="0"/>
              <a:t> 7.7.207</a:t>
            </a:r>
          </a:p>
          <a:p>
            <a:pPr algn="l"/>
            <a:endParaRPr lang="de-DE" b="1" dirty="0">
              <a:effectLst/>
            </a:endParaRPr>
          </a:p>
          <a:p>
            <a:pPr algn="l"/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64510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E65859-C48E-E332-35C1-A06ED8B0E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Einleitung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D9A261-2A7E-ED0F-BA48-D1B6145A4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>
                <a:effectLst/>
              </a:rPr>
              <a:t>Projektumfeld:</a:t>
            </a:r>
            <a:r>
              <a:rPr lang="de-DE" dirty="0">
                <a:effectLst/>
              </a:rPr>
              <a:t> Umschulung Fachinformatik / Datenbanken</a:t>
            </a:r>
          </a:p>
          <a:p>
            <a:endParaRPr lang="de-DE" dirty="0"/>
          </a:p>
          <a:p>
            <a:r>
              <a:rPr lang="de-DE" b="1" dirty="0">
                <a:effectLst/>
              </a:rPr>
              <a:t>Projektauslöser:</a:t>
            </a:r>
            <a:r>
              <a:rPr lang="de-DE" dirty="0">
                <a:effectLst/>
              </a:rPr>
              <a:t> Bedarf an transparenter Finanzverwaltung</a:t>
            </a:r>
          </a:p>
          <a:p>
            <a:endParaRPr lang="de-DE" dirty="0"/>
          </a:p>
          <a:p>
            <a:r>
              <a:rPr lang="de-DE" b="1" dirty="0">
                <a:effectLst/>
              </a:rPr>
              <a:t>Projektziel:</a:t>
            </a:r>
            <a:r>
              <a:rPr lang="de-DE" dirty="0">
                <a:effectLst/>
              </a:rPr>
              <a:t> Strukturierte Datenbank zur Verwaltung von Familie, Konten &amp; Transaktionen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1567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B48DB6-8909-DD5C-34D6-66B2C2DC2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60BE15-D6CF-DB2B-6712-4C319FDBC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Entwicklung einer relationalen Datenbank zur Verwaltung persönlicher Finanzen </a:t>
            </a:r>
          </a:p>
          <a:p>
            <a:r>
              <a:rPr lang="de-DE" dirty="0"/>
              <a:t>Speicherung von Benutzern, Konten und Transaktionen </a:t>
            </a:r>
          </a:p>
          <a:p>
            <a:r>
              <a:rPr lang="de-DE" dirty="0"/>
              <a:t>Strukturierte Verwaltung von Einnahmen und Ausgaben </a:t>
            </a:r>
          </a:p>
          <a:p>
            <a:r>
              <a:rPr lang="de-DE" dirty="0"/>
              <a:t>Analyse der Finanzdaten mit SQL (SELECT und JOIN) </a:t>
            </a:r>
          </a:p>
          <a:p>
            <a:r>
              <a:rPr lang="de-DE" dirty="0"/>
              <a:t>Verwendung von Primär- und Fremdschlüsseln zur Sicherstellung der Datenbeziehungen 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1195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F18BBD-8D69-C787-46F2-5A1D1E10E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Planung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814214-B52D-23E3-1928-75B92DE10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>
                <a:effectLst/>
              </a:rPr>
              <a:t>Zeitplanung:</a:t>
            </a:r>
            <a:r>
              <a:rPr lang="de-DE" dirty="0">
                <a:effectLst/>
              </a:rPr>
              <a:t> Analyse, Entwurf, Implementierung, Tests, Dokumentation</a:t>
            </a:r>
          </a:p>
          <a:p>
            <a:endParaRPr lang="de-DE" dirty="0"/>
          </a:p>
          <a:p>
            <a:r>
              <a:rPr lang="de-DE" b="1" dirty="0">
                <a:effectLst/>
              </a:rPr>
              <a:t>IST‑Analyse:</a:t>
            </a:r>
            <a:r>
              <a:rPr lang="de-DE" dirty="0">
                <a:effectLst/>
              </a:rPr>
              <a:t> Keine vorhandene Struktur, manuelle Verwaltung</a:t>
            </a:r>
          </a:p>
          <a:p>
            <a:endParaRPr lang="de-DE" dirty="0"/>
          </a:p>
          <a:p>
            <a:r>
              <a:rPr lang="de-DE" b="1" dirty="0">
                <a:effectLst/>
              </a:rPr>
              <a:t>SOLL‑Konzept:</a:t>
            </a:r>
            <a:r>
              <a:rPr lang="de-DE" dirty="0">
                <a:effectLst/>
              </a:rPr>
              <a:t> Klare Entitäten &amp; Beziehungen, Erweiterbarkeit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25346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6786E4-CF86-291D-30B7-9F92F5AB7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Zeitplanung</a:t>
            </a:r>
            <a:endParaRPr lang="de-DE" dirty="0"/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328C0590-E3E6-98DC-DB97-44D75932113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77863" y="2318226"/>
          <a:ext cx="8596312" cy="3566160"/>
        </p:xfrm>
        <a:graphic>
          <a:graphicData uri="http://schemas.openxmlformats.org/drawingml/2006/table">
            <a:tbl>
              <a:tblPr/>
              <a:tblGrid>
                <a:gridCol w="4298156">
                  <a:extLst>
                    <a:ext uri="{9D8B030D-6E8A-4147-A177-3AD203B41FA5}">
                      <a16:colId xmlns:a16="http://schemas.microsoft.com/office/drawing/2014/main" val="2698197428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19355262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Phase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Beschreibung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61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Analyse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Anforderungen sammeln und Projektziel definieren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8784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Entwurf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ER-Diagramm und Tabellenstruktur erstellen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49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Implementierung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Datenbank und Tabellen mit SQL erstellen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859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Testdaten einfügen und SQL-Abfragen überprüfen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438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Dokumentation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Präsentation und Projektdokumentation erstellen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686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7286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5B47E23-89AA-C787-1763-B9FEADBE2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719667"/>
            <a:ext cx="8596668" cy="5321695"/>
          </a:xfrm>
        </p:spPr>
        <p:txBody>
          <a:bodyPr/>
          <a:lstStyle/>
          <a:p>
            <a:pPr marL="0" indent="0">
              <a:buNone/>
            </a:pPr>
            <a:r>
              <a:rPr lang="de-DE" b="1" dirty="0"/>
              <a:t>IST-Analyse</a:t>
            </a:r>
          </a:p>
          <a:p>
            <a:r>
              <a:rPr lang="de-DE" dirty="0"/>
              <a:t>Vor dem Projekt gab es keine strukturierte Datenbank zur Verwaltung der Finanzdaten. Einnahmen und Ausgaben wurden manuell oder in einfachen Tabellen erfasst. Dadurch war die Auswertung zeitaufwendig und fehleranfällig.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b="1" dirty="0"/>
              <a:t>SOLL-Konzept</a:t>
            </a:r>
          </a:p>
          <a:p>
            <a:r>
              <a:rPr lang="de-DE" dirty="0"/>
              <a:t>Es wird eine relationale Datenbank entwickelt, die Benutzer, Konten, Transaktionen, Kategorien und Transferarten miteinander verknüpft. Durch Primär- und Fremdschlüssel werden die Daten konsistent gespeichert. Das System ist übersichtlich aufgebaut und kann später um weitere Funktionen, wie Budgetplanung oder Berichte, erweitert werden.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05524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989C0A-1945-2090-7D94-42215BF21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Entwurf der Datenbank</a:t>
            </a:r>
            <a:br>
              <a:rPr lang="de-DE" b="1" dirty="0"/>
            </a:br>
            <a:endParaRPr lang="de-DE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F8C531-79F1-DF5A-B384-94A2967A2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b="1" dirty="0"/>
              <a:t>ER‑Modell</a:t>
            </a:r>
          </a:p>
          <a:p>
            <a:r>
              <a:rPr lang="de-DE" b="1" dirty="0"/>
              <a:t>Relation-Model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Entitäten:</a:t>
            </a:r>
          </a:p>
          <a:p>
            <a:r>
              <a:rPr lang="de-DE" b="1" dirty="0">
                <a:effectLst/>
              </a:rPr>
              <a:t>Benutzer</a:t>
            </a:r>
            <a:r>
              <a:rPr lang="de-DE" dirty="0">
                <a:effectLst/>
              </a:rPr>
              <a:t> – Personen</a:t>
            </a:r>
            <a:endParaRPr lang="de-DE" dirty="0"/>
          </a:p>
          <a:p>
            <a:r>
              <a:rPr lang="de-DE" b="1" dirty="0">
                <a:effectLst/>
              </a:rPr>
              <a:t>Konto</a:t>
            </a:r>
            <a:r>
              <a:rPr lang="de-DE" dirty="0">
                <a:effectLst/>
              </a:rPr>
              <a:t> – Finanzkonten</a:t>
            </a:r>
            <a:endParaRPr lang="de-DE" dirty="0"/>
          </a:p>
          <a:p>
            <a:r>
              <a:rPr lang="de-DE" b="1" dirty="0" err="1">
                <a:effectLst/>
              </a:rPr>
              <a:t>Ben_Konto</a:t>
            </a:r>
            <a:r>
              <a:rPr lang="de-DE" dirty="0">
                <a:effectLst/>
              </a:rPr>
              <a:t> – Zuordnung Benutzer ↔ Konto</a:t>
            </a:r>
            <a:endParaRPr lang="de-DE" dirty="0"/>
          </a:p>
          <a:p>
            <a:r>
              <a:rPr lang="de-DE" b="1" dirty="0">
                <a:effectLst/>
              </a:rPr>
              <a:t>Transaktion</a:t>
            </a:r>
            <a:r>
              <a:rPr lang="de-DE" dirty="0">
                <a:effectLst/>
              </a:rPr>
              <a:t> – Buchungen</a:t>
            </a:r>
            <a:endParaRPr lang="de-DE" dirty="0"/>
          </a:p>
          <a:p>
            <a:r>
              <a:rPr lang="de-DE" b="1" dirty="0" err="1">
                <a:effectLst/>
              </a:rPr>
              <a:t>Art_transf</a:t>
            </a:r>
            <a:r>
              <a:rPr lang="de-DE" dirty="0">
                <a:effectLst/>
              </a:rPr>
              <a:t> – Art der Transaktion</a:t>
            </a:r>
            <a:endParaRPr lang="de-DE" dirty="0"/>
          </a:p>
          <a:p>
            <a:r>
              <a:rPr lang="de-DE" b="1" dirty="0">
                <a:effectLst/>
              </a:rPr>
              <a:t>Kategorie</a:t>
            </a:r>
            <a:r>
              <a:rPr lang="de-DE" dirty="0">
                <a:effectLst/>
              </a:rPr>
              <a:t> – Klassifizierung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6887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AC4C25-FC74-FE40-57A0-4724C5E3B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Durchführung: </a:t>
            </a:r>
            <a:r>
              <a:rPr lang="de-DE" b="1" dirty="0">
                <a:highlight>
                  <a:srgbClr val="FF0000"/>
                </a:highlight>
              </a:rPr>
              <a:t>ich glaube braucht nicht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573440-ACF1-3751-ED6A-FCD5D159F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>
                <a:effectLst/>
              </a:rPr>
              <a:t>Entwurf:</a:t>
            </a:r>
            <a:r>
              <a:rPr lang="de-DE" dirty="0">
                <a:effectLst/>
              </a:rPr>
              <a:t> Erstellung des ER‑Modells</a:t>
            </a:r>
          </a:p>
          <a:p>
            <a:endParaRPr lang="de-DE" dirty="0"/>
          </a:p>
          <a:p>
            <a:r>
              <a:rPr lang="de-DE" b="1" dirty="0">
                <a:effectLst/>
              </a:rPr>
              <a:t>Implementierung:</a:t>
            </a:r>
            <a:r>
              <a:rPr lang="de-DE" dirty="0">
                <a:effectLst/>
              </a:rPr>
              <a:t> SQL‑Tabellen, Fremdschlüssel, Datentypen</a:t>
            </a:r>
          </a:p>
          <a:p>
            <a:endParaRPr lang="de-DE" dirty="0"/>
          </a:p>
          <a:p>
            <a:r>
              <a:rPr lang="de-DE" b="1" dirty="0">
                <a:effectLst/>
              </a:rPr>
              <a:t>Tests:</a:t>
            </a:r>
            <a:r>
              <a:rPr lang="de-DE" dirty="0">
                <a:effectLst/>
              </a:rPr>
              <a:t> Einfügen von Testdaten, Prüfung der Beziehungen</a:t>
            </a:r>
          </a:p>
          <a:p>
            <a:endParaRPr lang="de-DE" dirty="0"/>
          </a:p>
          <a:p>
            <a:r>
              <a:rPr lang="de-DE" b="1" dirty="0">
                <a:effectLst/>
              </a:rPr>
              <a:t>Probleme &amp; Lösungen:</a:t>
            </a:r>
            <a:r>
              <a:rPr lang="de-DE" dirty="0">
                <a:effectLst/>
              </a:rPr>
              <a:t> n:m‑Beziehungen, Kategorisierung, Transaktionsarten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02390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94FEFE-59F5-DD80-43D0-A9B9C78D6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Relation-Model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227C916E-E282-87B5-33E9-15CAE200FA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1264" y="2160588"/>
            <a:ext cx="3969509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640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FECC5E-069A-6771-42BA-044FEBBD8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ER‑Modell</a:t>
            </a:r>
            <a:endParaRPr lang="de-DE" dirty="0"/>
          </a:p>
        </p:txBody>
      </p:sp>
      <p:pic>
        <p:nvPicPr>
          <p:cNvPr id="4" name="Inhaltsplatzhalter 3" descr="budget_relmodell.png">
            <a:extLst>
              <a:ext uri="{FF2B5EF4-FFF2-40B4-BE49-F238E27FC236}">
                <a16:creationId xmlns:a16="http://schemas.microsoft.com/office/drawing/2014/main" id="{F4474953-C720-7D09-99B8-E965AE0ABC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5977" y="1798265"/>
            <a:ext cx="580661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178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5DF19F-562A-A361-1038-8C9FBF697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Implementierung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9A63B4-B01B-FA71-C23A-92D3F9076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SQL-Tabellen erstellen </a:t>
            </a:r>
          </a:p>
          <a:p>
            <a:r>
              <a:rPr lang="de-DE" dirty="0"/>
              <a:t>Primärschlüssel definieren </a:t>
            </a:r>
          </a:p>
          <a:p>
            <a:r>
              <a:rPr lang="de-DE" dirty="0"/>
              <a:t>Fremdschlüssel definieren </a:t>
            </a:r>
          </a:p>
          <a:p>
            <a:r>
              <a:rPr lang="de-DE" dirty="0"/>
              <a:t>Datentypen festlegen 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8734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82A34D-23C2-69D9-B10E-607C2A738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Tests und Ergebnisse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844ADD-3D97-1943-5983-6A5B0BA80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Testdaten einfügen </a:t>
            </a:r>
          </a:p>
          <a:p>
            <a:r>
              <a:rPr lang="de-DE" dirty="0"/>
              <a:t>Beziehungen prüfen </a:t>
            </a:r>
          </a:p>
          <a:p>
            <a:r>
              <a:rPr lang="de-DE" dirty="0"/>
              <a:t>SELECT- und JOIN-Abfragen ausführen 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7218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D26E3D-40C8-FE98-74EB-B26767856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Abschluss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50BB43-3080-C3B9-A427-C9711C4A4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>
                <a:effectLst/>
              </a:rPr>
              <a:t>Zeitvergleich:</a:t>
            </a:r>
            <a:r>
              <a:rPr lang="de-DE" dirty="0">
                <a:effectLst/>
              </a:rPr>
              <a:t> Planung weitgehend eingehalten</a:t>
            </a:r>
          </a:p>
          <a:p>
            <a:endParaRPr lang="de-DE" dirty="0"/>
          </a:p>
          <a:p>
            <a:r>
              <a:rPr lang="de-DE" b="1" dirty="0">
                <a:effectLst/>
              </a:rPr>
              <a:t>Fazit:</a:t>
            </a:r>
            <a:r>
              <a:rPr lang="de-DE" dirty="0">
                <a:effectLst/>
              </a:rPr>
              <a:t> Funktionales, erweiterbares Datenbankmodell</a:t>
            </a:r>
          </a:p>
          <a:p>
            <a:endParaRPr lang="de-DE" dirty="0"/>
          </a:p>
          <a:p>
            <a:r>
              <a:rPr lang="de-DE" b="1" dirty="0">
                <a:effectLst/>
              </a:rPr>
              <a:t>Ausblick:</a:t>
            </a:r>
            <a:r>
              <a:rPr lang="de-DE" dirty="0">
                <a:effectLst/>
              </a:rPr>
              <a:t> Budgetplanung, Statistiken, Web‑Frontend möglich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90010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9FBAA6-92B9-0023-B7D7-7C8C65DE0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Probleme und Lösungen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C5B058-8746-DEA7-5160-784453CF3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n:m-Beziehung:</a:t>
            </a:r>
            <a:br>
              <a:rPr lang="de-DE" dirty="0"/>
            </a:br>
            <a:r>
              <a:rPr lang="de-DE" dirty="0"/>
              <a:t>Lösung: Zwischentabelle </a:t>
            </a:r>
            <a:r>
              <a:rPr lang="de-DE" dirty="0" err="1"/>
              <a:t>Benutzer_Konto</a:t>
            </a:r>
            <a:r>
              <a:rPr lang="de-DE" dirty="0"/>
              <a:t> erstellt 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b="1" dirty="0"/>
              <a:t>Kategorisierung der Transaktionen:</a:t>
            </a:r>
            <a:br>
              <a:rPr lang="de-DE" dirty="0"/>
            </a:br>
            <a:r>
              <a:rPr lang="de-DE" dirty="0"/>
              <a:t>Lösung: Tabelle Kategorie erstellt 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b="1" dirty="0"/>
              <a:t>Unterscheidung der Transaktionsarten:</a:t>
            </a:r>
            <a:br>
              <a:rPr lang="de-DE" dirty="0"/>
            </a:br>
            <a:r>
              <a:rPr lang="de-DE" dirty="0"/>
              <a:t>Lösung: Tabelle </a:t>
            </a:r>
            <a:r>
              <a:rPr lang="de-DE" dirty="0" err="1"/>
              <a:t>Art_Transfer</a:t>
            </a:r>
            <a:r>
              <a:rPr lang="de-DE" dirty="0"/>
              <a:t> für Einnahmen und Ausgaben erstellt 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86593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293015-09B0-48A3-8785-3013CECCE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4631267"/>
          </a:xfrm>
        </p:spPr>
        <p:txBody>
          <a:bodyPr>
            <a:normAutofit fontScale="90000"/>
          </a:bodyPr>
          <a:lstStyle/>
          <a:p>
            <a:pPr algn="ctr"/>
            <a:r>
              <a:rPr lang="de-DE" sz="8000" dirty="0"/>
              <a:t>Vielen Dank </a:t>
            </a:r>
            <a:br>
              <a:rPr lang="de-DE" sz="8000" dirty="0"/>
            </a:br>
            <a:r>
              <a:rPr lang="de-DE" sz="8000" dirty="0"/>
              <a:t>für </a:t>
            </a:r>
            <a:br>
              <a:rPr lang="de-DE" sz="8000" dirty="0"/>
            </a:br>
            <a:r>
              <a:rPr lang="de-DE" sz="8000" dirty="0"/>
              <a:t>ihre Aufmerksam</a:t>
            </a:r>
            <a:br>
              <a:rPr lang="de-DE" sz="8000" dirty="0"/>
            </a:br>
            <a:endParaRPr lang="de-DE" sz="8000" dirty="0"/>
          </a:p>
        </p:txBody>
      </p:sp>
    </p:spTree>
    <p:extLst>
      <p:ext uri="{BB962C8B-B14F-4D97-AF65-F5344CB8AC3E}">
        <p14:creationId xmlns:p14="http://schemas.microsoft.com/office/powerpoint/2010/main" val="108885461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400</Words>
  <Application>Microsoft Office PowerPoint</Application>
  <PresentationFormat>Breitbild</PresentationFormat>
  <Paragraphs>86</Paragraphs>
  <Slides>15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9" baseType="lpstr">
      <vt:lpstr>Arial</vt:lpstr>
      <vt:lpstr>Trebuchet MS</vt:lpstr>
      <vt:lpstr>Wingdings 3</vt:lpstr>
      <vt:lpstr>Facette</vt:lpstr>
      <vt:lpstr>PowerPoint-Präsentation</vt:lpstr>
      <vt:lpstr>Einleitung</vt:lpstr>
      <vt:lpstr>PowerPoint-Präsentation</vt:lpstr>
      <vt:lpstr>Planung</vt:lpstr>
      <vt:lpstr>Zeitplanung</vt:lpstr>
      <vt:lpstr>PowerPoint-Präsentation</vt:lpstr>
      <vt:lpstr>Entwurf der Datenbank </vt:lpstr>
      <vt:lpstr>Durchführung: ich glaube braucht nicht</vt:lpstr>
      <vt:lpstr>Relation-Model</vt:lpstr>
      <vt:lpstr>ER‑Modell</vt:lpstr>
      <vt:lpstr>Implementierung</vt:lpstr>
      <vt:lpstr>Tests und Ergebnisse</vt:lpstr>
      <vt:lpstr>Abschluss</vt:lpstr>
      <vt:lpstr>Probleme und Lösungen</vt:lpstr>
      <vt:lpstr>Vielen Dank  für  ihre Aufmerksam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Tesfaledet Yemane Kifle</dc:creator>
  <cp:lastModifiedBy>Maryam Ghafouri</cp:lastModifiedBy>
  <cp:revision>3</cp:revision>
  <dcterms:created xsi:type="dcterms:W3CDTF">2026-07-08T10:56:07Z</dcterms:created>
  <dcterms:modified xsi:type="dcterms:W3CDTF">2026-07-08T13:02:19Z</dcterms:modified>
</cp:coreProperties>
</file>